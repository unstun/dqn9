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/>
              </a:defRPr>
            </a:pPr>
            <a:r>
              <a:t>Fig. X.  Architecture of the proposed CNN-DDQN+MD network for UGV path planning.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417320" cy="4572000"/>
          </a:xfrm>
          <a:prstGeom prst="rect">
            <a:avLst/>
          </a:prstGeom>
          <a:noFill/>
          <a:ln w="635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41247"/>
            <a:ext cx="14173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00" b="1" i="0">
                <a:solidFill>
                  <a:srgbClr val="333333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234439"/>
            <a:ext cx="100584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1234439"/>
            <a:ext cx="0" cy="1005841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2940" y="1485900"/>
            <a:ext cx="1005840" cy="0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5860" y="1234439"/>
            <a:ext cx="0" cy="1005841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2940" y="1737360"/>
            <a:ext cx="1005840" cy="0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17320" y="1234439"/>
            <a:ext cx="0" cy="1005841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2940" y="1988819"/>
            <a:ext cx="1005840" cy="0"/>
          </a:xfrm>
          <a:prstGeom prst="line">
            <a:avLst/>
          </a:prstGeom>
          <a:ln w="38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2940" y="1554479"/>
            <a:ext cx="10058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  <a:latin typeface="Arial"/>
              </a:defRPr>
            </a:pPr>
            <a:r>
              <a:t>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2011680"/>
            <a:ext cx="10058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0">
                <a:solidFill>
                  <a:srgbClr val="999999"/>
                </a:solidFill>
                <a:latin typeface="Consolas"/>
              </a:defRPr>
            </a:pPr>
            <a:r>
              <a:t>12 ×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" y="2441448"/>
            <a:ext cx="100584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" y="2670048"/>
            <a:ext cx="10058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333333"/>
                </a:solidFill>
                <a:latin typeface="Arial"/>
              </a:defRPr>
            </a:pPr>
            <a:r>
              <a:t>Goal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333333"/>
                </a:solidFill>
                <a:latin typeface="Arial"/>
              </a:defRPr>
            </a:pPr>
            <a: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" y="3218688"/>
            <a:ext cx="10058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0">
                <a:solidFill>
                  <a:srgbClr val="999999"/>
                </a:solidFill>
                <a:latin typeface="Consolas"/>
              </a:defRPr>
            </a:pPr>
            <a:r>
              <a:t>12 ×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648456"/>
            <a:ext cx="100584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" y="3877056"/>
            <a:ext cx="10058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333333"/>
                </a:solidFill>
                <a:latin typeface="Arial"/>
              </a:defRPr>
            </a:pPr>
            <a:r>
              <a:t>EDT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333333"/>
                </a:solidFill>
                <a:latin typeface="Arial"/>
              </a:defRPr>
            </a:pPr>
            <a:r>
              <a:t>Clearance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" y="4425696"/>
            <a:ext cx="10058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0">
                <a:solidFill>
                  <a:srgbClr val="999999"/>
                </a:solidFill>
                <a:latin typeface="Consolas"/>
              </a:defRPr>
            </a:pPr>
            <a:r>
              <a:t>12 ×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4901184"/>
            <a:ext cx="10058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" y="4919472"/>
            <a:ext cx="100584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  <a:latin typeface="Arial"/>
              </a:defRPr>
            </a:pPr>
            <a:r>
              <a:t>Scalars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" y="5129784"/>
            <a:ext cx="100584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0">
                <a:solidFill>
                  <a:srgbClr val="999999"/>
                </a:solidFill>
                <a:latin typeface="Consolas"/>
              </a:defRPr>
            </a:pPr>
            <a:r>
              <a:t>11-dim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1097280"/>
            <a:ext cx="2011680" cy="3749039"/>
          </a:xfrm>
          <a:prstGeom prst="rect">
            <a:avLst/>
          </a:prstGeom>
          <a:noFill/>
          <a:ln w="635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841247"/>
            <a:ext cx="201168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00" b="1" i="0">
                <a:solidFill>
                  <a:srgbClr val="333333"/>
                </a:solidFill>
                <a:latin typeface="Arial"/>
              </a:defRPr>
            </a:pPr>
            <a:r>
              <a:t>CNN Feature Extractor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8608" y="1280160"/>
            <a:ext cx="179222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1325880"/>
            <a:ext cx="1792224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Conv₁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3×3, s=1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3 → 32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1A5CB0"/>
                </a:solidFill>
                <a:latin typeface="Arial"/>
              </a:defRPr>
            </a:pPr>
            <a:r>
              <a:t>ReLU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74720" y="2057400"/>
            <a:ext cx="0" cy="201168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578608" y="2258568"/>
            <a:ext cx="179222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8608" y="2304287"/>
            <a:ext cx="1792224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Conv₂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3×3, s=2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32 → 64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1A5CB0"/>
                </a:solidFill>
                <a:latin typeface="Arial"/>
              </a:defRPr>
            </a:pPr>
            <a:r>
              <a:t>ReLU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0" y="3035808"/>
            <a:ext cx="0" cy="201168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578608" y="3236976"/>
            <a:ext cx="179222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8608" y="3282696"/>
            <a:ext cx="1792224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Conv₃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3×3, s=2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64 → 64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1A5CB0"/>
                </a:solidFill>
                <a:latin typeface="Arial"/>
              </a:defRPr>
            </a:pPr>
            <a:r>
              <a:t>ReLU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572000"/>
            <a:ext cx="20116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50" b="0" i="1">
                <a:solidFill>
                  <a:srgbClr val="666666"/>
                </a:solidFill>
                <a:latin typeface="Consolas"/>
              </a:defRPr>
            </a:pPr>
            <a:r>
              <a:t>→ 64 × 3 × 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74519" y="2944368"/>
            <a:ext cx="594361" cy="27432"/>
          </a:xfrm>
          <a:prstGeom prst="line">
            <a:avLst/>
          </a:prstGeom>
          <a:ln w="1524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7672" y="2670048"/>
            <a:ext cx="82296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3 × 12 ×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1097280"/>
            <a:ext cx="1920240" cy="3749039"/>
          </a:xfrm>
          <a:prstGeom prst="rect">
            <a:avLst/>
          </a:prstGeom>
          <a:noFill/>
          <a:ln w="635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841247"/>
            <a:ext cx="192024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00" b="1" i="0">
                <a:solidFill>
                  <a:srgbClr val="333333"/>
                </a:solidFill>
                <a:latin typeface="Arial"/>
              </a:defRPr>
            </a:pPr>
            <a:r>
              <a:t>Spatial MHA (MD)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1325880"/>
            <a:ext cx="1737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1371600"/>
            <a:ext cx="173736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Reshape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(B, C, H, W) → (B, HW, C)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9 tokens × 64 dims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148840"/>
            <a:ext cx="1737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2194560"/>
            <a:ext cx="1737360" cy="6858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Self-Attention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h = 4 heads, dₖ = 16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1A5CB0"/>
                </a:solidFill>
                <a:latin typeface="Consolas"/>
              </a:defRPr>
            </a:pPr>
            <a:r>
              <a:t>Q = K = V = tokens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154680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200400"/>
            <a:ext cx="173736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Add &amp; LayerNorm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Times New Roman"/>
              </a:defRPr>
            </a:pPr>
            <a:r>
              <a:t>x + Attn(x)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3904488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3950208"/>
            <a:ext cx="173736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Flatten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64 × 3 × 3 → 576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989320" y="1920240"/>
            <a:ext cx="0" cy="228600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2926080"/>
            <a:ext cx="0" cy="228600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89320" y="3703320"/>
            <a:ext cx="0" cy="201168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931152" y="1618488"/>
            <a:ext cx="21945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50607" y="1618488"/>
            <a:ext cx="0" cy="1810512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931152" y="3429000"/>
            <a:ext cx="219455" cy="0"/>
          </a:xfrm>
          <a:prstGeom prst="line">
            <a:avLst/>
          </a:prstGeom>
          <a:ln w="6350">
            <a:solidFill>
              <a:srgbClr val="999999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78040" y="2432304"/>
            <a:ext cx="4572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defRPr sz="600" b="0" i="1">
                <a:solidFill>
                  <a:srgbClr val="999999"/>
                </a:solidFill>
                <a:latin typeface="Arial"/>
              </a:defRPr>
            </a:pPr>
            <a:r>
              <a:t>skip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480560" y="2971800"/>
            <a:ext cx="548640" cy="0"/>
          </a:xfrm>
          <a:prstGeom prst="line">
            <a:avLst/>
          </a:prstGeom>
          <a:ln w="1524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535424" y="2697480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64 × 3 × 3</a:t>
            </a:r>
          </a:p>
        </p:txBody>
      </p:sp>
      <p:sp>
        <p:nvSpPr>
          <p:cNvPr id="55" name="Oval 54"/>
          <p:cNvSpPr/>
          <p:nvPr/>
        </p:nvSpPr>
        <p:spPr>
          <a:xfrm>
            <a:off x="7251192" y="263347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51192" y="2697480"/>
            <a:ext cx="402336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400" b="1" i="0">
                <a:solidFill>
                  <a:srgbClr val="333333"/>
                </a:solidFill>
                <a:latin typeface="Arial"/>
              </a:defRPr>
            </a:pPr>
            <a:r>
              <a:t>⊕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6949440" y="2834640"/>
            <a:ext cx="301752" cy="1298448"/>
          </a:xfrm>
          <a:prstGeom prst="line">
            <a:avLst/>
          </a:prstGeom>
          <a:ln w="1524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95159" y="3904488"/>
            <a:ext cx="4572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576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874519" y="5129784"/>
            <a:ext cx="0" cy="649224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74519" y="5779008"/>
            <a:ext cx="5577841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52360" y="3035808"/>
            <a:ext cx="0" cy="2743200"/>
          </a:xfrm>
          <a:prstGeom prst="line">
            <a:avLst/>
          </a:prstGeom>
          <a:ln w="10160">
            <a:solidFill>
              <a:srgbClr val="666666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331720" y="5550408"/>
            <a:ext cx="45720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11-dim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2440" y="1097280"/>
            <a:ext cx="2331720" cy="4846320"/>
          </a:xfrm>
          <a:prstGeom prst="rect">
            <a:avLst/>
          </a:prstGeom>
          <a:noFill/>
          <a:ln w="635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841247"/>
            <a:ext cx="233172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1000" b="1" i="0">
                <a:solidFill>
                  <a:srgbClr val="333333"/>
                </a:solidFill>
                <a:latin typeface="Arial"/>
              </a:defRPr>
            </a:pPr>
            <a:r>
              <a:t>Dueling DQN Head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02167" y="1325880"/>
            <a:ext cx="211226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2167" y="1371600"/>
            <a:ext cx="2112263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Shared FC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Consolas"/>
              </a:defRPr>
            </a:pPr>
            <a:r>
              <a:t>587 → 256, ReLU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7" y="2148840"/>
            <a:ext cx="896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2194560"/>
            <a:ext cx="896112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Value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256 → 256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ReLU → 1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C0392B"/>
                </a:solidFill>
                <a:latin typeface="Times New Roman"/>
              </a:defRPr>
            </a:pPr>
            <a:r>
              <a:t>V(s)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19" y="2148840"/>
            <a:ext cx="896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19" y="2194560"/>
            <a:ext cx="896112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Advantage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256 → 256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666666"/>
                </a:solidFill>
                <a:latin typeface="Consolas"/>
              </a:defRPr>
            </a:pPr>
            <a:r>
              <a:t>ReLU → 35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1A5CB0"/>
                </a:solidFill>
                <a:latin typeface="Times New Roman"/>
              </a:defRPr>
            </a:pPr>
            <a:r>
              <a:t>A(s, a)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8650224" y="1874519"/>
            <a:ext cx="258318" cy="274321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08058" y="1874519"/>
            <a:ext cx="258317" cy="274321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8202167" y="3337560"/>
            <a:ext cx="211226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02167" y="3383280"/>
            <a:ext cx="2112263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Aggregation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Times New Roman"/>
              </a:defRPr>
            </a:pPr>
            <a:r>
              <a:t>Q(s,a) = V(s) + A(s,a) − mean A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650224" y="3154680"/>
            <a:ext cx="185623" cy="182880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9680752" y="3154680"/>
            <a:ext cx="185623" cy="182880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202167" y="4050791"/>
            <a:ext cx="2112263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02167" y="4096511"/>
            <a:ext cx="2112263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Action Mask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C0392B"/>
                </a:solidFill>
                <a:latin typeface="Consolas"/>
              </a:defRPr>
            </a:pPr>
            <a:r>
              <a:t>Q(s, invalid) ← −∞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02167" y="4718303"/>
            <a:ext cx="2112263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02167" y="4764023"/>
            <a:ext cx="2112263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  <a:defRPr sz="950" b="1">
                <a:solidFill>
                  <a:srgbClr val="FFFFFF"/>
                </a:solidFill>
                <a:latin typeface="Times New Roman"/>
              </a:defRPr>
            </a:pPr>
            <a:r>
              <a:t>a* = argmax Q(s, a)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BBBBBB"/>
                </a:solidFill>
                <a:latin typeface="Consolas"/>
              </a:defRPr>
            </a:pPr>
            <a:r>
              <a:t>35 actions  (7 steer × 5 accel)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258300" y="3886200"/>
            <a:ext cx="0" cy="164591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331452" y="3922776"/>
            <a:ext cx="36576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35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258300" y="4553712"/>
            <a:ext cx="0" cy="164591"/>
          </a:xfrm>
          <a:prstGeom prst="line">
            <a:avLst/>
          </a:prstGeom>
          <a:ln w="889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3528" y="1600200"/>
            <a:ext cx="438912" cy="1234440"/>
          </a:xfrm>
          <a:prstGeom prst="line">
            <a:avLst/>
          </a:prstGeom>
          <a:ln w="15240">
            <a:solidFill>
              <a:srgbClr val="44444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699248" y="2578608"/>
            <a:ext cx="36576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defRPr sz="700" b="0" i="1">
                <a:solidFill>
                  <a:srgbClr val="999999"/>
                </a:solidFill>
                <a:latin typeface="Consolas"/>
              </a:defRPr>
            </a:pPr>
            <a:r>
              <a:t>587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725912" y="1371600"/>
            <a:ext cx="0" cy="274320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0835640" y="1371600"/>
            <a:ext cx="1097280" cy="2926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900" b="1">
                <a:solidFill>
                  <a:srgbClr val="333333"/>
                </a:solidFill>
                <a:latin typeface="Arial"/>
              </a:defRPr>
            </a:pPr>
            <a:r>
              <a:t>Double DQN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Online net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999999"/>
                </a:solidFill>
                <a:latin typeface="Times New Roman"/>
              </a:defRPr>
            </a:pPr>
            <a:r>
              <a:t>selects a*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Target net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999999"/>
                </a:solidFill>
                <a:latin typeface="Times New Roman"/>
              </a:defRPr>
            </a:pPr>
            <a:r>
              <a:t>evaluates Q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Hard update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999999"/>
                </a:solidFill>
                <a:latin typeface="Consolas"/>
              </a:defRPr>
            </a:pPr>
            <a:r>
              <a:t>τ = 1000 steps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750" b="0">
                <a:solidFill>
                  <a:srgbClr val="666666"/>
                </a:solidFill>
                <a:latin typeface="Times New Roman"/>
              </a:defRPr>
            </a:pPr>
            <a:r>
              <a:t>γ = 0.995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700" b="0">
                <a:solidFill>
                  <a:srgbClr val="999999"/>
                </a:solidFill>
                <a:latin typeface="Consolas"/>
              </a:defRPr>
            </a:pPr>
            <a:r>
              <a:t>ε : 0.9 → 0.01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