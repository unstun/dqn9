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MD-DDQN Network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2286000"/>
            <a:ext cx="457200" cy="1097280"/>
          </a:xfrm>
          <a:prstGeom prst="rect">
            <a:avLst/>
          </a:prstGeom>
          <a:solidFill>
            <a:srgbClr val="90A4AE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290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Occ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286000"/>
            <a:ext cx="457200" cy="1097280"/>
          </a:xfrm>
          <a:prstGeom prst="rect">
            <a:avLst/>
          </a:prstGeom>
          <a:solidFill>
            <a:srgbClr val="FFB74D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290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GDF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7033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</a:defRPr>
            </a:pPr>
            <a:r>
              <a:t>2×12×12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4297680"/>
            <a:ext cx="914400" cy="548640"/>
          </a:xfrm>
          <a:prstGeom prst="roundRect">
            <a:avLst/>
          </a:prstGeom>
          <a:solidFill>
            <a:srgbClr val="B0B0B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Scalars</a:t>
            </a:r>
          </a:p>
          <a:p>
            <a:r>
              <a:t>11-d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560320"/>
            <a:ext cx="822960" cy="822960"/>
          </a:xfrm>
          <a:prstGeom prst="rect">
            <a:avLst/>
          </a:prstGeom>
          <a:solidFill>
            <a:srgbClr val="4A90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34290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</a:defRPr>
            </a:pPr>
            <a:r>
              <a:t>Conv₁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2697480"/>
            <a:ext cx="822960" cy="548640"/>
          </a:xfrm>
          <a:prstGeom prst="rect">
            <a:avLst/>
          </a:prstGeom>
          <a:solidFill>
            <a:srgbClr val="4A90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2918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</a:defRPr>
            </a:pPr>
            <a:r>
              <a:t>Conv₂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834640"/>
            <a:ext cx="822960" cy="320040"/>
          </a:xfrm>
          <a:prstGeom prst="rect">
            <a:avLst/>
          </a:prstGeom>
          <a:solidFill>
            <a:srgbClr val="4A90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2004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</a:defRPr>
            </a:pPr>
            <a:r>
              <a:t>Conv₃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2834640"/>
            <a:ext cx="822960" cy="320040"/>
          </a:xfrm>
          <a:prstGeom prst="rect">
            <a:avLst/>
          </a:prstGeom>
          <a:solidFill>
            <a:srgbClr val="26A69A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39" y="32004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</a:defRPr>
            </a:pPr>
            <a:r>
              <a:t>MHA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2743200"/>
            <a:ext cx="640080" cy="457200"/>
          </a:xfrm>
          <a:prstGeom prst="roundRect">
            <a:avLst/>
          </a:prstGeom>
          <a:solidFill>
            <a:srgbClr val="4A90D9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Flatten</a:t>
            </a:r>
          </a:p>
          <a:p>
            <a:r>
              <a:t>576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2697480"/>
            <a:ext cx="457200" cy="457200"/>
          </a:xfrm>
          <a:prstGeom prst="ellipse">
            <a:avLst/>
          </a:prstGeom>
          <a:solidFill>
            <a:srgbClr val="FFD54F"/>
          </a:solidFill>
          <a:ln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20040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</a:defRPr>
            </a:pPr>
            <a:r>
              <a:t>587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2651760"/>
            <a:ext cx="1097280" cy="502920"/>
          </a:xfrm>
          <a:prstGeom prst="roundRect">
            <a:avLst/>
          </a:prstGeom>
          <a:solidFill>
            <a:srgbClr val="66BB6A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FC(256)</a:t>
            </a:r>
          </a:p>
          <a:p>
            <a:r>
              <a:t>ReLU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0" y="1554480"/>
            <a:ext cx="914400" cy="502920"/>
          </a:xfrm>
          <a:prstGeom prst="roundRect">
            <a:avLst/>
          </a:prstGeom>
          <a:solidFill>
            <a:srgbClr val="EF535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Value</a:t>
            </a:r>
          </a:p>
          <a:p>
            <a:r>
              <a:t>V(s)→ℝ¹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0" y="3291840"/>
            <a:ext cx="914400" cy="502920"/>
          </a:xfrm>
          <a:prstGeom prst="roundRect">
            <a:avLst/>
          </a:prstGeom>
          <a:solidFill>
            <a:srgbClr val="43A047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Advantage</a:t>
            </a:r>
          </a:p>
          <a:p>
            <a:r>
              <a:t>A(s,a)→ℝ³⁵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704320" y="2423160"/>
            <a:ext cx="1188720" cy="640080"/>
          </a:xfrm>
          <a:prstGeom prst="roundRect">
            <a:avLst/>
          </a:prstGeom>
          <a:solidFill>
            <a:srgbClr val="FF980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Q = V + A - Ā</a:t>
            </a:r>
          </a:p>
          <a:p>
            <a:r>
              <a:t>35 Q-values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344400" y="2011680"/>
            <a:ext cx="148132" cy="148132"/>
          </a:xfrm>
          <a:prstGeom prst="rect">
            <a:avLst/>
          </a:prstGeom>
          <a:solidFill>
            <a:srgbClr val="FFE0E0"/>
          </a:solidFill>
          <a:ln w="6350">
            <a:solidFill>
              <a:srgbClr val="CC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77318" y="2036368"/>
            <a:ext cx="82296" cy="82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C62828"/>
                </a:solidFill>
              </a:defRPr>
            </a:pPr>
            <a:r>
              <a:t>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508992" y="2011680"/>
            <a:ext cx="148132" cy="148132"/>
          </a:xfrm>
          <a:prstGeom prst="rect">
            <a:avLst/>
          </a:prstGeom>
          <a:solidFill>
            <a:srgbClr val="FFE0E0"/>
          </a:solidFill>
          <a:ln w="6350">
            <a:solidFill>
              <a:srgbClr val="CC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541910" y="2036368"/>
            <a:ext cx="82296" cy="82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C62828"/>
                </a:solidFill>
              </a:defRPr>
            </a:pPr>
            <a:r>
              <a:t>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673584" y="2011680"/>
            <a:ext cx="148132" cy="148132"/>
          </a:xfrm>
          <a:prstGeom prst="rect">
            <a:avLst/>
          </a:prstGeom>
          <a:solidFill>
            <a:srgbClr val="E8F5E9"/>
          </a:solidFill>
          <a:ln w="6350">
            <a:solidFill>
              <a:srgbClr val="66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2838176" y="2011680"/>
            <a:ext cx="148132" cy="148132"/>
          </a:xfrm>
          <a:prstGeom prst="rect">
            <a:avLst/>
          </a:prstGeom>
          <a:solidFill>
            <a:srgbClr val="FFE0E0"/>
          </a:solidFill>
          <a:ln w="6350">
            <a:solidFill>
              <a:srgbClr val="CC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71094" y="2036368"/>
            <a:ext cx="82296" cy="82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C62828"/>
                </a:solidFill>
              </a:defRPr>
            </a:pPr>
            <a:r>
              <a:t>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002768" y="2011680"/>
            <a:ext cx="148132" cy="148132"/>
          </a:xfrm>
          <a:prstGeom prst="rect">
            <a:avLst/>
          </a:prstGeom>
          <a:solidFill>
            <a:srgbClr val="FFE0E0"/>
          </a:solidFill>
          <a:ln w="6350">
            <a:solidFill>
              <a:srgbClr val="CC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035686" y="2036368"/>
            <a:ext cx="82296" cy="82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C62828"/>
                </a:solidFill>
              </a:defRPr>
            </a:pPr>
            <a:r>
              <a:t>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4400" y="2176272"/>
            <a:ext cx="148132" cy="148132"/>
          </a:xfrm>
          <a:prstGeom prst="rect">
            <a:avLst/>
          </a:prstGeom>
          <a:solidFill>
            <a:srgbClr val="FFE0E0"/>
          </a:solidFill>
          <a:ln w="6350">
            <a:solidFill>
              <a:srgbClr val="CC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77318" y="2200960"/>
            <a:ext cx="82296" cy="82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C62828"/>
                </a:solidFill>
              </a:defRPr>
            </a:pPr>
            <a:r>
              <a:t>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508992" y="2176272"/>
            <a:ext cx="148132" cy="148132"/>
          </a:xfrm>
          <a:prstGeom prst="rect">
            <a:avLst/>
          </a:prstGeom>
          <a:solidFill>
            <a:srgbClr val="E8F5E9"/>
          </a:solidFill>
          <a:ln w="6350">
            <a:solidFill>
              <a:srgbClr val="66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673584" y="2176272"/>
            <a:ext cx="148132" cy="148132"/>
          </a:xfrm>
          <a:prstGeom prst="rect">
            <a:avLst/>
          </a:prstGeom>
          <a:solidFill>
            <a:srgbClr val="E8F5E9"/>
          </a:solidFill>
          <a:ln w="6350">
            <a:solidFill>
              <a:srgbClr val="66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838176" y="2176272"/>
            <a:ext cx="148132" cy="148132"/>
          </a:xfrm>
          <a:prstGeom prst="rect">
            <a:avLst/>
          </a:prstGeom>
          <a:solidFill>
            <a:srgbClr val="E8F5E9"/>
          </a:solidFill>
          <a:ln w="6350">
            <a:solidFill>
              <a:srgbClr val="66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002768" y="2176272"/>
            <a:ext cx="148132" cy="148132"/>
          </a:xfrm>
          <a:prstGeom prst="rect">
            <a:avLst/>
          </a:prstGeom>
          <a:solidFill>
            <a:srgbClr val="FFE0E0"/>
          </a:solidFill>
          <a:ln w="6350">
            <a:solidFill>
              <a:srgbClr val="CC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035686" y="2200960"/>
            <a:ext cx="82296" cy="82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C62828"/>
                </a:solidFill>
              </a:defRPr>
            </a:pPr>
            <a:r>
              <a:t>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4400" y="2340864"/>
            <a:ext cx="148132" cy="148132"/>
          </a:xfrm>
          <a:prstGeom prst="rect">
            <a:avLst/>
          </a:prstGeom>
          <a:solidFill>
            <a:srgbClr val="E8F5E9"/>
          </a:solidFill>
          <a:ln w="6350">
            <a:solidFill>
              <a:srgbClr val="66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2508992" y="2340864"/>
            <a:ext cx="148132" cy="148132"/>
          </a:xfrm>
          <a:prstGeom prst="rect">
            <a:avLst/>
          </a:prstGeom>
          <a:solidFill>
            <a:srgbClr val="E8F5E9"/>
          </a:solidFill>
          <a:ln w="6350">
            <a:solidFill>
              <a:srgbClr val="66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2673584" y="2340864"/>
            <a:ext cx="148132" cy="148132"/>
          </a:xfrm>
          <a:prstGeom prst="rect">
            <a:avLst/>
          </a:prstGeom>
          <a:solidFill>
            <a:srgbClr val="E8F5E9"/>
          </a:solidFill>
          <a:ln w="6350">
            <a:solidFill>
              <a:srgbClr val="66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838176" y="2340864"/>
            <a:ext cx="148132" cy="148132"/>
          </a:xfrm>
          <a:prstGeom prst="rect">
            <a:avLst/>
          </a:prstGeom>
          <a:solidFill>
            <a:srgbClr val="E8F5E9"/>
          </a:solidFill>
          <a:ln w="6350">
            <a:solidFill>
              <a:srgbClr val="66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3002768" y="2340864"/>
            <a:ext cx="148132" cy="148132"/>
          </a:xfrm>
          <a:prstGeom prst="rect">
            <a:avLst/>
          </a:prstGeom>
          <a:solidFill>
            <a:srgbClr val="E8F5E9"/>
          </a:solidFill>
          <a:ln w="6350">
            <a:solidFill>
              <a:srgbClr val="66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2344400" y="2505456"/>
            <a:ext cx="148132" cy="148132"/>
          </a:xfrm>
          <a:prstGeom prst="rect">
            <a:avLst/>
          </a:prstGeom>
          <a:solidFill>
            <a:srgbClr val="E8F5E9"/>
          </a:solidFill>
          <a:ln w="6350">
            <a:solidFill>
              <a:srgbClr val="66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2508992" y="2505456"/>
            <a:ext cx="148132" cy="148132"/>
          </a:xfrm>
          <a:prstGeom prst="rect">
            <a:avLst/>
          </a:prstGeom>
          <a:solidFill>
            <a:srgbClr val="E8F5E9"/>
          </a:solidFill>
          <a:ln w="6350">
            <a:solidFill>
              <a:srgbClr val="66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2673584" y="2505456"/>
            <a:ext cx="148132" cy="148132"/>
          </a:xfrm>
          <a:prstGeom prst="rect">
            <a:avLst/>
          </a:prstGeom>
          <a:solidFill>
            <a:srgbClr val="E8F5E9"/>
          </a:solidFill>
          <a:ln w="6350">
            <a:solidFill>
              <a:srgbClr val="66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838176" y="2505456"/>
            <a:ext cx="148132" cy="148132"/>
          </a:xfrm>
          <a:prstGeom prst="rect">
            <a:avLst/>
          </a:prstGeom>
          <a:solidFill>
            <a:srgbClr val="E8F5E9"/>
          </a:solidFill>
          <a:ln w="6350">
            <a:solidFill>
              <a:srgbClr val="66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3002768" y="2505456"/>
            <a:ext cx="148132" cy="148132"/>
          </a:xfrm>
          <a:prstGeom prst="rect">
            <a:avLst/>
          </a:prstGeom>
          <a:solidFill>
            <a:srgbClr val="E8F5E9"/>
          </a:solidFill>
          <a:ln w="6350">
            <a:solidFill>
              <a:srgbClr val="66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2344400" y="2670048"/>
            <a:ext cx="148132" cy="148132"/>
          </a:xfrm>
          <a:prstGeom prst="rect">
            <a:avLst/>
          </a:prstGeom>
          <a:solidFill>
            <a:srgbClr val="E8F5E9"/>
          </a:solidFill>
          <a:ln w="6350">
            <a:solidFill>
              <a:srgbClr val="66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2508992" y="2670048"/>
            <a:ext cx="148132" cy="148132"/>
          </a:xfrm>
          <a:prstGeom prst="rect">
            <a:avLst/>
          </a:prstGeom>
          <a:solidFill>
            <a:srgbClr val="E8F5E9"/>
          </a:solidFill>
          <a:ln w="6350">
            <a:solidFill>
              <a:srgbClr val="66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2673584" y="2670048"/>
            <a:ext cx="148132" cy="148132"/>
          </a:xfrm>
          <a:prstGeom prst="rect">
            <a:avLst/>
          </a:prstGeom>
          <a:solidFill>
            <a:srgbClr val="E8F5E9"/>
          </a:solidFill>
          <a:ln w="6350">
            <a:solidFill>
              <a:srgbClr val="66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2838176" y="2670048"/>
            <a:ext cx="148132" cy="148132"/>
          </a:xfrm>
          <a:prstGeom prst="rect">
            <a:avLst/>
          </a:prstGeom>
          <a:solidFill>
            <a:srgbClr val="E8F5E9"/>
          </a:solidFill>
          <a:ln w="6350">
            <a:solidFill>
              <a:srgbClr val="66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002768" y="2670048"/>
            <a:ext cx="148132" cy="148132"/>
          </a:xfrm>
          <a:prstGeom prst="rect">
            <a:avLst/>
          </a:prstGeom>
          <a:solidFill>
            <a:srgbClr val="E8F5E9"/>
          </a:solidFill>
          <a:ln w="6350">
            <a:solidFill>
              <a:srgbClr val="66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2344400" y="2834640"/>
            <a:ext cx="148132" cy="148132"/>
          </a:xfrm>
          <a:prstGeom prst="rect">
            <a:avLst/>
          </a:prstGeom>
          <a:solidFill>
            <a:srgbClr val="FFE0E0"/>
          </a:solidFill>
          <a:ln w="6350">
            <a:solidFill>
              <a:srgbClr val="CC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377318" y="2859328"/>
            <a:ext cx="82296" cy="82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C62828"/>
                </a:solidFill>
              </a:defRPr>
            </a:pPr>
            <a:r>
              <a:t>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508992" y="2834640"/>
            <a:ext cx="148132" cy="148132"/>
          </a:xfrm>
          <a:prstGeom prst="rect">
            <a:avLst/>
          </a:prstGeom>
          <a:solidFill>
            <a:srgbClr val="E8F5E9"/>
          </a:solidFill>
          <a:ln w="6350">
            <a:solidFill>
              <a:srgbClr val="66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2673584" y="2834640"/>
            <a:ext cx="148132" cy="148132"/>
          </a:xfrm>
          <a:prstGeom prst="rect">
            <a:avLst/>
          </a:prstGeom>
          <a:solidFill>
            <a:srgbClr val="E8F5E9"/>
          </a:solidFill>
          <a:ln w="6350">
            <a:solidFill>
              <a:srgbClr val="66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2838176" y="2834640"/>
            <a:ext cx="148132" cy="148132"/>
          </a:xfrm>
          <a:prstGeom prst="rect">
            <a:avLst/>
          </a:prstGeom>
          <a:solidFill>
            <a:srgbClr val="E8F5E9"/>
          </a:solidFill>
          <a:ln w="6350">
            <a:solidFill>
              <a:srgbClr val="66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3002768" y="2834640"/>
            <a:ext cx="148132" cy="148132"/>
          </a:xfrm>
          <a:prstGeom prst="rect">
            <a:avLst/>
          </a:prstGeom>
          <a:solidFill>
            <a:srgbClr val="FFE0E0"/>
          </a:solidFill>
          <a:ln w="6350">
            <a:solidFill>
              <a:srgbClr val="CC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035686" y="2859328"/>
            <a:ext cx="82296" cy="82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C62828"/>
                </a:solidFill>
              </a:defRPr>
            </a:pPr>
            <a:r>
              <a:t>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2344400" y="2999232"/>
            <a:ext cx="148132" cy="148132"/>
          </a:xfrm>
          <a:prstGeom prst="rect">
            <a:avLst/>
          </a:prstGeom>
          <a:solidFill>
            <a:srgbClr val="FFE0E0"/>
          </a:solidFill>
          <a:ln w="6350">
            <a:solidFill>
              <a:srgbClr val="CC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377318" y="3023920"/>
            <a:ext cx="82296" cy="82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C62828"/>
                </a:solidFill>
              </a:defRPr>
            </a:pPr>
            <a:r>
              <a:t>×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2508992" y="2999232"/>
            <a:ext cx="148132" cy="148132"/>
          </a:xfrm>
          <a:prstGeom prst="rect">
            <a:avLst/>
          </a:prstGeom>
          <a:solidFill>
            <a:srgbClr val="FFE0E0"/>
          </a:solidFill>
          <a:ln w="6350">
            <a:solidFill>
              <a:srgbClr val="CC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541910" y="3023920"/>
            <a:ext cx="82296" cy="82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C62828"/>
                </a:solidFill>
              </a:defRPr>
            </a:pPr>
            <a:r>
              <a:t>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2673584" y="2999232"/>
            <a:ext cx="148132" cy="148132"/>
          </a:xfrm>
          <a:prstGeom prst="rect">
            <a:avLst/>
          </a:prstGeom>
          <a:solidFill>
            <a:srgbClr val="E8F5E9"/>
          </a:solidFill>
          <a:ln w="6350">
            <a:solidFill>
              <a:srgbClr val="66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2838176" y="2999232"/>
            <a:ext cx="148132" cy="148132"/>
          </a:xfrm>
          <a:prstGeom prst="rect">
            <a:avLst/>
          </a:prstGeom>
          <a:solidFill>
            <a:srgbClr val="FFE0E0"/>
          </a:solidFill>
          <a:ln w="6350">
            <a:solidFill>
              <a:srgbClr val="CC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871094" y="3023920"/>
            <a:ext cx="82296" cy="82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C62828"/>
                </a:solidFill>
              </a:defRPr>
            </a:pPr>
            <a:r>
              <a:t>×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3002768" y="2999232"/>
            <a:ext cx="148132" cy="148132"/>
          </a:xfrm>
          <a:prstGeom prst="rect">
            <a:avLst/>
          </a:prstGeom>
          <a:solidFill>
            <a:srgbClr val="FFE0E0"/>
          </a:solidFill>
          <a:ln w="6350">
            <a:solidFill>
              <a:srgbClr val="CC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3035686" y="3023920"/>
            <a:ext cx="82296" cy="82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C62828"/>
                </a:solidFill>
              </a:defRPr>
            </a:pPr>
            <a:r>
              <a:t>×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481560" y="32918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</a:defRPr>
            </a:pPr>
            <a:r>
              <a:t>Kin. Mask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481560" y="3474720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t>bool 35-d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3716000" y="2423160"/>
            <a:ext cx="548640" cy="457200"/>
          </a:xfrm>
          <a:prstGeom prst="roundRect">
            <a:avLst/>
          </a:prstGeom>
          <a:solidFill>
            <a:srgbClr val="7E57C2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a*</a:t>
            </a:r>
          </a:p>
          <a:p>
            <a:r>
              <a:t>(δ̇,a)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651760" y="2971800"/>
            <a:ext cx="45720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931920" y="2971800"/>
            <a:ext cx="45720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212080" y="2971800"/>
            <a:ext cx="45720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6492240" y="2971800"/>
            <a:ext cx="36576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498080" y="2971800"/>
            <a:ext cx="36576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321040" y="2926080"/>
            <a:ext cx="36576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822960" y="3154680"/>
            <a:ext cx="7269480" cy="169164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9784080" y="1828800"/>
            <a:ext cx="457200" cy="9144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9784080" y="3108960"/>
            <a:ext cx="457200" cy="18288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1155680" y="1828800"/>
            <a:ext cx="548640" cy="82296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1155680" y="2834640"/>
            <a:ext cx="548640" cy="73152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 flipV="1">
            <a:off x="12344400" y="2560320"/>
            <a:ext cx="548640" cy="18288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3167360" y="2560320"/>
            <a:ext cx="548640" cy="9144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3200400" y="13716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A90D9"/>
                </a:solidFill>
              </a:defRPr>
            </a:pPr>
            <a:r>
              <a:t>CNN Feature Extractor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05840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9800"/>
                </a:solidFill>
              </a:defRPr>
            </a:pPr>
            <a:r>
              <a:t>Dueling Head (MD)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704320" y="1645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C62828"/>
                </a:solidFill>
              </a:defRPr>
            </a:pPr>
            <a:r>
              <a:t>Action Masking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200" y="5303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Input: 2×12×12 map channels (Occupancy + Goal Distance Field) + 11-d scalar features | Output: 35 Q-values (7 steering rates × 5 accelerations) with kinematic mask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