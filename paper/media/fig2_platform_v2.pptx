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948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4000" y="144000"/>
            <a:ext cx="2448000" cy="4031999"/>
          </a:xfrm>
          <a:prstGeom prst="roundRect">
            <a:avLst>
              <a:gd name="adj" fmla="val 8000"/>
            </a:avLst>
          </a:prstGeom>
          <a:solidFill>
            <a:srgbClr val="5C6BC0"/>
          </a:solidFill>
          <a:ln w="1270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72800" y="587519"/>
            <a:ext cx="2390400" cy="3559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4000" y="144000"/>
            <a:ext cx="2448000" cy="44351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Autonomous UGV Platform</a:t>
            </a:r>
          </a:p>
        </p:txBody>
      </p:sp>
      <p:pic>
        <p:nvPicPr>
          <p:cNvPr id="5" name="Picture 4" descr="fig_platform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78" y="641519"/>
            <a:ext cx="1942044" cy="345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788001" y="144000"/>
            <a:ext cx="2015999" cy="11880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816801" y="452880"/>
            <a:ext cx="1958399" cy="85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88001" y="144000"/>
            <a:ext cx="2015999" cy="308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(a) Livox Mid-360 LiDAR</a:t>
            </a:r>
          </a:p>
        </p:txBody>
      </p:sp>
      <p:pic>
        <p:nvPicPr>
          <p:cNvPr id="9" name="Picture 8" descr="fig_platform_li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100" y="506880"/>
            <a:ext cx="985800" cy="742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788001" y="1457999"/>
            <a:ext cx="2015999" cy="11880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816801" y="1766879"/>
            <a:ext cx="1958399" cy="85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88001" y="1457999"/>
            <a:ext cx="2015999" cy="308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(b) Jetson AGX Orin</a:t>
            </a:r>
          </a:p>
        </p:txBody>
      </p:sp>
      <p:pic>
        <p:nvPicPr>
          <p:cNvPr id="13" name="Picture 12" descr="fig_platform_jet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100" y="1820879"/>
            <a:ext cx="985800" cy="7423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788001" y="2771998"/>
            <a:ext cx="2015999" cy="11880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816801" y="3080878"/>
            <a:ext cx="1958399" cy="85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88001" y="2771998"/>
            <a:ext cx="2015999" cy="308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(c) Ackermann Chassis</a:t>
            </a:r>
          </a:p>
        </p:txBody>
      </p:sp>
      <p:pic>
        <p:nvPicPr>
          <p:cNvPr id="17" name="Picture 16" descr="fig_platform_chas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866" y="3134878"/>
            <a:ext cx="1396268" cy="742320"/>
          </a:xfrm>
          <a:prstGeom prst="rect">
            <a:avLst/>
          </a:prstGeom>
        </p:spPr>
      </p:pic>
      <p:sp>
        <p:nvSpPr>
          <p:cNvPr id="18" name="Freeform 17"/>
          <p:cNvSpPr/>
          <p:nvPr/>
        </p:nvSpPr>
        <p:spPr>
          <a:xfrm>
            <a:off x="2592000" y="683380"/>
            <a:ext cx="2196001" cy="360620"/>
          </a:xfrm>
          <a:custGeom>
            <a:avLst/>
            <a:gdLst/>
            <a:ahLst/>
            <a:cxnLst/>
            <a:rect l="l" t="t" r="r" b="b"/>
            <a:pathLst>
              <a:path w="2196001" h="360620">
                <a:moveTo>
                  <a:pt x="0" y="360620"/>
                </a:moveTo>
                <a:lnTo>
                  <a:pt x="45986" y="336803"/>
                </a:lnTo>
                <a:lnTo>
                  <a:pt x="91719" y="313944"/>
                </a:lnTo>
                <a:lnTo>
                  <a:pt x="137209" y="292028"/>
                </a:lnTo>
                <a:lnTo>
                  <a:pt x="182468" y="271039"/>
                </a:lnTo>
                <a:lnTo>
                  <a:pt x="227505" y="250964"/>
                </a:lnTo>
                <a:lnTo>
                  <a:pt x="272332" y="231787"/>
                </a:lnTo>
                <a:lnTo>
                  <a:pt x="316958" y="213494"/>
                </a:lnTo>
                <a:lnTo>
                  <a:pt x="361395" y="196071"/>
                </a:lnTo>
                <a:lnTo>
                  <a:pt x="405652" y="179501"/>
                </a:lnTo>
                <a:lnTo>
                  <a:pt x="449741" y="163772"/>
                </a:lnTo>
                <a:lnTo>
                  <a:pt x="493671" y="148868"/>
                </a:lnTo>
                <a:lnTo>
                  <a:pt x="537454" y="134774"/>
                </a:lnTo>
                <a:lnTo>
                  <a:pt x="581100" y="121476"/>
                </a:lnTo>
                <a:lnTo>
                  <a:pt x="624619" y="108959"/>
                </a:lnTo>
                <a:lnTo>
                  <a:pt x="668023" y="97208"/>
                </a:lnTo>
                <a:lnTo>
                  <a:pt x="711321" y="86209"/>
                </a:lnTo>
                <a:lnTo>
                  <a:pt x="754524" y="75947"/>
                </a:lnTo>
                <a:lnTo>
                  <a:pt x="797643" y="66407"/>
                </a:lnTo>
                <a:lnTo>
                  <a:pt x="840688" y="57575"/>
                </a:lnTo>
                <a:lnTo>
                  <a:pt x="883670" y="49436"/>
                </a:lnTo>
                <a:lnTo>
                  <a:pt x="926599" y="41975"/>
                </a:lnTo>
                <a:lnTo>
                  <a:pt x="969487" y="35178"/>
                </a:lnTo>
                <a:lnTo>
                  <a:pt x="1012342" y="29029"/>
                </a:lnTo>
                <a:lnTo>
                  <a:pt x="1055176" y="23515"/>
                </a:lnTo>
                <a:lnTo>
                  <a:pt x="1098000" y="18620"/>
                </a:lnTo>
                <a:lnTo>
                  <a:pt x="1140824" y="14330"/>
                </a:lnTo>
                <a:lnTo>
                  <a:pt x="1183658" y="10630"/>
                </a:lnTo>
                <a:lnTo>
                  <a:pt x="1226513" y="7506"/>
                </a:lnTo>
                <a:lnTo>
                  <a:pt x="1269401" y="4942"/>
                </a:lnTo>
                <a:lnTo>
                  <a:pt x="1312330" y="2924"/>
                </a:lnTo>
                <a:lnTo>
                  <a:pt x="1355312" y="1438"/>
                </a:lnTo>
                <a:lnTo>
                  <a:pt x="1398357" y="468"/>
                </a:lnTo>
                <a:lnTo>
                  <a:pt x="1441476" y="0"/>
                </a:lnTo>
                <a:lnTo>
                  <a:pt x="1484679" y="20"/>
                </a:lnTo>
                <a:lnTo>
                  <a:pt x="1527977" y="512"/>
                </a:lnTo>
                <a:lnTo>
                  <a:pt x="1571381" y="1462"/>
                </a:lnTo>
                <a:lnTo>
                  <a:pt x="1614900" y="2856"/>
                </a:lnTo>
                <a:lnTo>
                  <a:pt x="1658546" y="4677"/>
                </a:lnTo>
                <a:lnTo>
                  <a:pt x="1702329" y="6913"/>
                </a:lnTo>
                <a:lnTo>
                  <a:pt x="1746259" y="9548"/>
                </a:lnTo>
                <a:lnTo>
                  <a:pt x="1790348" y="12567"/>
                </a:lnTo>
                <a:lnTo>
                  <a:pt x="1834605" y="15956"/>
                </a:lnTo>
                <a:lnTo>
                  <a:pt x="1879042" y="19701"/>
                </a:lnTo>
                <a:lnTo>
                  <a:pt x="1923668" y="23785"/>
                </a:lnTo>
                <a:lnTo>
                  <a:pt x="1968495" y="28196"/>
                </a:lnTo>
                <a:lnTo>
                  <a:pt x="2013532" y="32917"/>
                </a:lnTo>
                <a:lnTo>
                  <a:pt x="2058791" y="37935"/>
                </a:lnTo>
                <a:lnTo>
                  <a:pt x="2104281" y="43234"/>
                </a:lnTo>
                <a:lnTo>
                  <a:pt x="2150014" y="48801"/>
                </a:lnTo>
                <a:lnTo>
                  <a:pt x="2196001" y="54620"/>
                </a:lnTo>
                <a:close/>
              </a:path>
            </a:pathLst>
          </a:custGeom>
          <a:noFill/>
          <a:ln w="27940">
            <a:solidFill>
              <a:srgbClr val="2E7D32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592000" y="2051999"/>
            <a:ext cx="2196001" cy="108000"/>
          </a:xfrm>
          <a:custGeom>
            <a:avLst/>
            <a:gdLst/>
            <a:ahLst/>
            <a:cxnLst/>
            <a:rect l="l" t="t" r="r" b="b"/>
            <a:pathLst>
              <a:path w="2196001" h="108000">
                <a:moveTo>
                  <a:pt x="0" y="108000"/>
                </a:moveTo>
                <a:lnTo>
                  <a:pt x="45986" y="102707"/>
                </a:lnTo>
                <a:lnTo>
                  <a:pt x="91719" y="97625"/>
                </a:lnTo>
                <a:lnTo>
                  <a:pt x="137209" y="92748"/>
                </a:lnTo>
                <a:lnTo>
                  <a:pt x="182468" y="88072"/>
                </a:lnTo>
                <a:lnTo>
                  <a:pt x="227505" y="83592"/>
                </a:lnTo>
                <a:lnTo>
                  <a:pt x="272332" y="79301"/>
                </a:lnTo>
                <a:lnTo>
                  <a:pt x="316958" y="75195"/>
                </a:lnTo>
                <a:lnTo>
                  <a:pt x="361395" y="71269"/>
                </a:lnTo>
                <a:lnTo>
                  <a:pt x="405652" y="67518"/>
                </a:lnTo>
                <a:lnTo>
                  <a:pt x="449741" y="63936"/>
                </a:lnTo>
                <a:lnTo>
                  <a:pt x="493671" y="60518"/>
                </a:lnTo>
                <a:lnTo>
                  <a:pt x="537454" y="57259"/>
                </a:lnTo>
                <a:lnTo>
                  <a:pt x="581100" y="54153"/>
                </a:lnTo>
                <a:lnTo>
                  <a:pt x="624619" y="51197"/>
                </a:lnTo>
                <a:lnTo>
                  <a:pt x="668023" y="48383"/>
                </a:lnTo>
                <a:lnTo>
                  <a:pt x="711321" y="45709"/>
                </a:lnTo>
                <a:lnTo>
                  <a:pt x="754524" y="43167"/>
                </a:lnTo>
                <a:lnTo>
                  <a:pt x="797643" y="40753"/>
                </a:lnTo>
                <a:lnTo>
                  <a:pt x="840688" y="38461"/>
                </a:lnTo>
                <a:lnTo>
                  <a:pt x="883670" y="36288"/>
                </a:lnTo>
                <a:lnTo>
                  <a:pt x="926599" y="34226"/>
                </a:lnTo>
                <a:lnTo>
                  <a:pt x="969487" y="32272"/>
                </a:lnTo>
                <a:lnTo>
                  <a:pt x="1012342" y="30419"/>
                </a:lnTo>
                <a:lnTo>
                  <a:pt x="1055176" y="28664"/>
                </a:lnTo>
                <a:lnTo>
                  <a:pt x="1098000" y="27000"/>
                </a:lnTo>
                <a:lnTo>
                  <a:pt x="1140824" y="25422"/>
                </a:lnTo>
                <a:lnTo>
                  <a:pt x="1183658" y="23925"/>
                </a:lnTo>
                <a:lnTo>
                  <a:pt x="1226513" y="22505"/>
                </a:lnTo>
                <a:lnTo>
                  <a:pt x="1269401" y="21155"/>
                </a:lnTo>
                <a:lnTo>
                  <a:pt x="1312330" y="19872"/>
                </a:lnTo>
                <a:lnTo>
                  <a:pt x="1355312" y="18648"/>
                </a:lnTo>
                <a:lnTo>
                  <a:pt x="1398357" y="17480"/>
                </a:lnTo>
                <a:lnTo>
                  <a:pt x="1441476" y="16362"/>
                </a:lnTo>
                <a:lnTo>
                  <a:pt x="1484679" y="15289"/>
                </a:lnTo>
                <a:lnTo>
                  <a:pt x="1527977" y="14256"/>
                </a:lnTo>
                <a:lnTo>
                  <a:pt x="1571381" y="13257"/>
                </a:lnTo>
                <a:lnTo>
                  <a:pt x="1614900" y="12287"/>
                </a:lnTo>
                <a:lnTo>
                  <a:pt x="1658546" y="11342"/>
                </a:lnTo>
                <a:lnTo>
                  <a:pt x="1702329" y="10416"/>
                </a:lnTo>
                <a:lnTo>
                  <a:pt x="1746259" y="9504"/>
                </a:lnTo>
                <a:lnTo>
                  <a:pt x="1790348" y="8600"/>
                </a:lnTo>
                <a:lnTo>
                  <a:pt x="1834605" y="7699"/>
                </a:lnTo>
                <a:lnTo>
                  <a:pt x="1879042" y="6797"/>
                </a:lnTo>
                <a:lnTo>
                  <a:pt x="1923668" y="5889"/>
                </a:lnTo>
                <a:lnTo>
                  <a:pt x="1968495" y="4968"/>
                </a:lnTo>
                <a:lnTo>
                  <a:pt x="2013532" y="4029"/>
                </a:lnTo>
                <a:lnTo>
                  <a:pt x="2058791" y="3068"/>
                </a:lnTo>
                <a:lnTo>
                  <a:pt x="2104281" y="2080"/>
                </a:lnTo>
                <a:lnTo>
                  <a:pt x="2150014" y="1059"/>
                </a:lnTo>
                <a:lnTo>
                  <a:pt x="2196001" y="0"/>
                </a:lnTo>
                <a:close/>
              </a:path>
            </a:pathLst>
          </a:custGeom>
          <a:noFill/>
          <a:ln w="27940">
            <a:solidFill>
              <a:srgbClr val="E65100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2592000" y="3275999"/>
            <a:ext cx="2196001" cy="235494"/>
          </a:xfrm>
          <a:custGeom>
            <a:avLst/>
            <a:gdLst/>
            <a:ahLst/>
            <a:cxnLst/>
            <a:rect l="l" t="t" r="r" b="b"/>
            <a:pathLst>
              <a:path w="2196001" h="235494">
                <a:moveTo>
                  <a:pt x="0" y="0"/>
                </a:moveTo>
                <a:lnTo>
                  <a:pt x="45986" y="17464"/>
                </a:lnTo>
                <a:lnTo>
                  <a:pt x="91719" y="34219"/>
                </a:lnTo>
                <a:lnTo>
                  <a:pt x="137209" y="50271"/>
                </a:lnTo>
                <a:lnTo>
                  <a:pt x="182468" y="65623"/>
                </a:lnTo>
                <a:lnTo>
                  <a:pt x="227505" y="80279"/>
                </a:lnTo>
                <a:lnTo>
                  <a:pt x="272332" y="94244"/>
                </a:lnTo>
                <a:lnTo>
                  <a:pt x="316958" y="107522"/>
                </a:lnTo>
                <a:lnTo>
                  <a:pt x="361395" y="120118"/>
                </a:lnTo>
                <a:lnTo>
                  <a:pt x="405652" y="132035"/>
                </a:lnTo>
                <a:lnTo>
                  <a:pt x="449741" y="143279"/>
                </a:lnTo>
                <a:lnTo>
                  <a:pt x="493671" y="153853"/>
                </a:lnTo>
                <a:lnTo>
                  <a:pt x="537454" y="163761"/>
                </a:lnTo>
                <a:lnTo>
                  <a:pt x="581100" y="173009"/>
                </a:lnTo>
                <a:lnTo>
                  <a:pt x="624619" y="181600"/>
                </a:lnTo>
                <a:lnTo>
                  <a:pt x="668023" y="189539"/>
                </a:lnTo>
                <a:lnTo>
                  <a:pt x="711321" y="196829"/>
                </a:lnTo>
                <a:lnTo>
                  <a:pt x="754524" y="203476"/>
                </a:lnTo>
                <a:lnTo>
                  <a:pt x="797643" y="209484"/>
                </a:lnTo>
                <a:lnTo>
                  <a:pt x="840688" y="214856"/>
                </a:lnTo>
                <a:lnTo>
                  <a:pt x="883670" y="219598"/>
                </a:lnTo>
                <a:lnTo>
                  <a:pt x="926599" y="223714"/>
                </a:lnTo>
                <a:lnTo>
                  <a:pt x="969487" y="227207"/>
                </a:lnTo>
                <a:lnTo>
                  <a:pt x="1012342" y="230083"/>
                </a:lnTo>
                <a:lnTo>
                  <a:pt x="1055176" y="232345"/>
                </a:lnTo>
                <a:lnTo>
                  <a:pt x="1098000" y="233998"/>
                </a:lnTo>
                <a:lnTo>
                  <a:pt x="1140824" y="235047"/>
                </a:lnTo>
                <a:lnTo>
                  <a:pt x="1183658" y="235494"/>
                </a:lnTo>
                <a:lnTo>
                  <a:pt x="1226513" y="235346"/>
                </a:lnTo>
                <a:lnTo>
                  <a:pt x="1269401" y="234606"/>
                </a:lnTo>
                <a:lnTo>
                  <a:pt x="1312330" y="233278"/>
                </a:lnTo>
                <a:lnTo>
                  <a:pt x="1355312" y="231367"/>
                </a:lnTo>
                <a:lnTo>
                  <a:pt x="1398357" y="228878"/>
                </a:lnTo>
                <a:lnTo>
                  <a:pt x="1441476" y="225813"/>
                </a:lnTo>
                <a:lnTo>
                  <a:pt x="1484679" y="222179"/>
                </a:lnTo>
                <a:lnTo>
                  <a:pt x="1527977" y="217978"/>
                </a:lnTo>
                <a:lnTo>
                  <a:pt x="1571381" y="213216"/>
                </a:lnTo>
                <a:lnTo>
                  <a:pt x="1614900" y="207897"/>
                </a:lnTo>
                <a:lnTo>
                  <a:pt x="1658546" y="202024"/>
                </a:lnTo>
                <a:lnTo>
                  <a:pt x="1702329" y="195604"/>
                </a:lnTo>
                <a:lnTo>
                  <a:pt x="1746259" y="188638"/>
                </a:lnTo>
                <a:lnTo>
                  <a:pt x="1790348" y="181133"/>
                </a:lnTo>
                <a:lnTo>
                  <a:pt x="1834605" y="173092"/>
                </a:lnTo>
                <a:lnTo>
                  <a:pt x="1879042" y="164520"/>
                </a:lnTo>
                <a:lnTo>
                  <a:pt x="1923668" y="155420"/>
                </a:lnTo>
                <a:lnTo>
                  <a:pt x="1968495" y="145798"/>
                </a:lnTo>
                <a:lnTo>
                  <a:pt x="2013532" y="135658"/>
                </a:lnTo>
                <a:lnTo>
                  <a:pt x="2058791" y="125003"/>
                </a:lnTo>
                <a:lnTo>
                  <a:pt x="2104281" y="113839"/>
                </a:lnTo>
                <a:lnTo>
                  <a:pt x="2150014" y="102169"/>
                </a:lnTo>
                <a:lnTo>
                  <a:pt x="2196001" y="89999"/>
                </a:lnTo>
                <a:close/>
              </a:path>
            </a:pathLst>
          </a:custGeom>
          <a:noFill/>
          <a:ln w="27940">
            <a:solidFill>
              <a:srgbClr val="1565C0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