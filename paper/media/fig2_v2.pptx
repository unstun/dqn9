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8580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1923415" y="1308735"/>
            <a:ext cx="1103630" cy="687070"/>
            <a:chOff x="4752" y="648"/>
            <a:chExt cx="4536" cy="1555"/>
          </a:xfrm>
        </p:grpSpPr>
        <p:sp>
          <p:nvSpPr>
            <p:cNvPr id="5" name="Rounded Rectangle 4"/>
            <p:cNvSpPr/>
            <p:nvPr/>
          </p:nvSpPr>
          <p:spPr>
            <a:xfrm>
              <a:off x="4752" y="648"/>
              <a:ext cx="4536" cy="1555"/>
            </a:xfrm>
            <a:prstGeom prst="roundRect">
              <a:avLst>
                <a:gd name="adj" fmla="val 6000"/>
              </a:avLst>
            </a:prstGeom>
            <a:solidFill>
              <a:srgbClr val="2E86C1"/>
            </a:solidFill>
            <a:ln>
              <a:noFill/>
            </a:ln>
            <a:effectLst>
              <a:outerShdw blurRad="38100" dist="25400" dir="2700000" algn="tl" rotWithShape="0">
                <a:srgbClr val="666666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0000" tIns="5000" rIns="20000" bIns="5000" rtlCol="0" anchor="t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Times New Roman" panose="02020603050405020304"/>
                </a:rPr>
                <a:t>(</a:t>
              </a:r>
              <a:r>
                <a:rPr lang="en-US" sz="900" b="1">
                  <a:solidFill>
                    <a:srgbClr val="FFFFFF"/>
                  </a:solidFill>
                  <a:latin typeface="Times New Roman" panose="02020603050405020304"/>
                </a:rPr>
                <a:t>b</a:t>
              </a:r>
              <a:r>
                <a:rPr sz="900" b="1">
                  <a:solidFill>
                    <a:srgbClr val="FFFFFF"/>
                  </a:solidFill>
                  <a:latin typeface="Times New Roman" panose="02020603050405020304"/>
                </a:rPr>
                <a:t>) Livox Mid-360 LiDAR</a:t>
              </a:r>
              <a:endParaRPr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endParaRPr sz="700" b="0">
                <a:solidFill>
                  <a:srgbClr val="D0DDF0"/>
                </a:solidFill>
                <a:latin typeface="Times New Roman" panose="02020603050405020304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91" y="1039"/>
              <a:ext cx="4458" cy="1124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AED6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" name="Picture 6" descr="shape_0_Picture 2.png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5794" y="1172"/>
              <a:ext cx="2451" cy="900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489585" y="593725"/>
            <a:ext cx="1223010" cy="2132330"/>
            <a:chOff x="648" y="648"/>
            <a:chExt cx="3038" cy="5184"/>
          </a:xfrm>
        </p:grpSpPr>
        <p:sp>
          <p:nvSpPr>
            <p:cNvPr id="2" name="Rounded Rectangle 1"/>
            <p:cNvSpPr/>
            <p:nvPr/>
          </p:nvSpPr>
          <p:spPr>
            <a:xfrm>
              <a:off x="648" y="648"/>
              <a:ext cx="3024" cy="5184"/>
            </a:xfrm>
            <a:prstGeom prst="roundRect">
              <a:avLst>
                <a:gd name="adj" fmla="val 4000"/>
              </a:avLst>
            </a:prstGeom>
            <a:solidFill>
              <a:srgbClr val="2C3E50"/>
            </a:solidFill>
            <a:ln>
              <a:noFill/>
            </a:ln>
            <a:effectLst>
              <a:outerShdw blurRad="38100" dist="25400" dir="2700000" algn="tl" rotWithShape="0">
                <a:srgbClr val="666666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0000" tIns="5000" rIns="20000" bIns="5000" rtlCol="0" anchor="t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Times New Roman" panose="02020603050405020304"/>
                </a:rPr>
                <a:t>UGV Platform</a:t>
              </a:r>
              <a:endParaRPr sz="11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95" y="1166"/>
              <a:ext cx="2930" cy="4618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8592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shape_9_图片 1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" y="1185"/>
              <a:ext cx="2892" cy="4581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3656" y="1496"/>
              <a:ext cx="50" cy="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656" y="3224"/>
              <a:ext cx="50" cy="50"/>
            </a:xfrm>
            <a:prstGeom prst="ellipse">
              <a:avLst/>
            </a:prstGeom>
            <a:solidFill>
              <a:srgbClr val="2E86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3656" y="4952"/>
              <a:ext cx="50" cy="5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13890" y="560070"/>
            <a:ext cx="1103630" cy="687070"/>
            <a:chOff x="4457" y="760"/>
            <a:chExt cx="1738" cy="1082"/>
          </a:xfrm>
        </p:grpSpPr>
        <p:grpSp>
          <p:nvGrpSpPr>
            <p:cNvPr id="22" name="组合 21"/>
            <p:cNvGrpSpPr/>
            <p:nvPr/>
          </p:nvGrpSpPr>
          <p:grpSpPr>
            <a:xfrm>
              <a:off x="4457" y="760"/>
              <a:ext cx="1738" cy="1082"/>
              <a:chOff x="4752" y="648"/>
              <a:chExt cx="4536" cy="1555"/>
            </a:xfrm>
          </p:grpSpPr>
          <p:sp>
            <p:nvSpPr>
              <p:cNvPr id="23" name="Rounded Rectangle 4"/>
              <p:cNvSpPr/>
              <p:nvPr/>
            </p:nvSpPr>
            <p:spPr>
              <a:xfrm>
                <a:off x="4752" y="648"/>
                <a:ext cx="4536" cy="1555"/>
              </a:xfrm>
              <a:prstGeom prst="roundRect">
                <a:avLst>
                  <a:gd name="adj" fmla="val 6000"/>
                </a:avLst>
              </a:prstGeom>
              <a:solidFill>
                <a:srgbClr val="C0392B"/>
              </a:solidFill>
              <a:ln>
                <a:noFill/>
              </a:ln>
              <a:effectLst>
                <a:outerShdw blurRad="38100" dist="25400" dir="2700000" algn="tl" rotWithShape="0">
                  <a:srgbClr val="666666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0000" tIns="5000" rIns="20000" bIns="5000" rtlCol="0" anchor="t"/>
              <a:lstStyle/>
              <a:p>
                <a:pPr algn="ctr"/>
                <a:r>
                  <a:rPr lang="en-US" altLang="zh-CN" sz="900" b="1">
                    <a:solidFill>
                      <a:srgbClr val="FFFFFF"/>
                    </a:solidFill>
                    <a:latin typeface="Times New Roman" panose="02020603050405020304"/>
                  </a:rPr>
                  <a:t>(a) Jetson AGX Orin</a:t>
                </a:r>
                <a:endParaRPr lang="en-US" altLang="zh-CN" sz="900" b="1">
                  <a:solidFill>
                    <a:srgbClr val="FFFFFF"/>
                  </a:solidFill>
                  <a:latin typeface="Times New Roman" panose="02020603050405020304"/>
                </a:endParaRPr>
              </a:p>
              <a:p>
                <a:pPr algn="ctr"/>
                <a:r>
                  <a:rPr sz="900" b="1">
                    <a:solidFill>
                      <a:srgbClr val="FFFFFF"/>
                    </a:solidFill>
                    <a:latin typeface="Times New Roman" panose="02020603050405020304"/>
                  </a:rPr>
                  <a:t/>
                </a:r>
                <a:endParaRPr sz="900" b="1">
                  <a:solidFill>
                    <a:srgbClr val="FFFFFF"/>
                  </a:solidFill>
                  <a:latin typeface="Times New Roman" panose="02020603050405020304"/>
                </a:endParaRPr>
              </a:p>
              <a:p>
                <a:pPr algn="ctr"/>
                <a:endParaRPr sz="700" b="0">
                  <a:solidFill>
                    <a:srgbClr val="D0DDF0"/>
                  </a:solidFill>
                  <a:latin typeface="Times New Roman" panose="02020603050405020304"/>
                </a:endParaRPr>
              </a:p>
            </p:txBody>
          </p:sp>
          <p:sp>
            <p:nvSpPr>
              <p:cNvPr id="24" name="Rounded Rectangle 5"/>
              <p:cNvSpPr/>
              <p:nvPr/>
            </p:nvSpPr>
            <p:spPr>
              <a:xfrm>
                <a:off x="4791" y="1039"/>
                <a:ext cx="4458" cy="1124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6350">
                <a:solidFill>
                  <a:srgbClr val="F5B7B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pic>
          <p:nvPicPr>
            <p:cNvPr id="26" name="Picture 9" descr="shape_2_Picture 4.pn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811" y="1111"/>
              <a:ext cx="941" cy="624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 rot="0">
            <a:off x="1913890" y="2057400"/>
            <a:ext cx="1103630" cy="687070"/>
            <a:chOff x="4752" y="648"/>
            <a:chExt cx="4536" cy="1555"/>
          </a:xfrm>
        </p:grpSpPr>
        <p:sp>
          <p:nvSpPr>
            <p:cNvPr id="30" name="Rounded Rectangle 4"/>
            <p:cNvSpPr/>
            <p:nvPr/>
          </p:nvSpPr>
          <p:spPr>
            <a:xfrm>
              <a:off x="4752" y="648"/>
              <a:ext cx="4536" cy="1555"/>
            </a:xfrm>
            <a:prstGeom prst="roundRect">
              <a:avLst>
                <a:gd name="adj" fmla="val 6000"/>
              </a:avLst>
            </a:prstGeom>
            <a:solidFill>
              <a:srgbClr val="27AE60"/>
            </a:solidFill>
            <a:ln>
              <a:noFill/>
            </a:ln>
            <a:effectLst>
              <a:outerShdw blurRad="38100" dist="25400" dir="2700000" algn="tl" rotWithShape="0">
                <a:srgbClr val="666666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0000" tIns="5000" rIns="20000" bIns="5000" rtlCol="0" anchor="t"/>
            <a:lstStyle/>
            <a:p>
              <a:pPr algn="ctr"/>
              <a:r>
                <a:rPr lang="en-US" altLang="zh-CN" sz="900" b="1">
                  <a:solidFill>
                    <a:srgbClr val="FFFFFF"/>
                  </a:solidFill>
                  <a:latin typeface="Times New Roman" panose="02020603050405020304"/>
                </a:rPr>
                <a:t>(c) Ackermann Chassis</a:t>
              </a:r>
              <a:endParaRPr lang="en-US" altLang="zh-CN"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endParaRPr lang="en-US" altLang="zh-CN"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r>
                <a:rPr sz="900" b="1">
                  <a:solidFill>
                    <a:srgbClr val="FFFFFF"/>
                  </a:solidFill>
                  <a:latin typeface="Times New Roman" panose="02020603050405020304"/>
                </a:rPr>
                <a:t/>
              </a:r>
              <a:endParaRPr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endParaRPr sz="700" b="0">
                <a:solidFill>
                  <a:srgbClr val="D0DDF0"/>
                </a:solidFill>
                <a:latin typeface="Times New Roman" panose="02020603050405020304"/>
              </a:endParaRPr>
            </a:p>
          </p:txBody>
        </p:sp>
        <p:sp>
          <p:nvSpPr>
            <p:cNvPr id="31" name="Rounded Rectangle 5"/>
            <p:cNvSpPr/>
            <p:nvPr/>
          </p:nvSpPr>
          <p:spPr>
            <a:xfrm>
              <a:off x="4791" y="1039"/>
              <a:ext cx="4458" cy="1124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A9D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" name="Picture 12" descr="shape_4_Picture 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38841" y="2280522"/>
            <a:ext cx="597600" cy="3996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 flipV="1">
            <a:off x="1111725" y="869315"/>
            <a:ext cx="793115" cy="654685"/>
          </a:xfrm>
          <a:prstGeom prst="line">
            <a:avLst/>
          </a:prstGeom>
          <a:ln w="19050">
            <a:solidFill>
              <a:srgbClr val="C0392B"/>
            </a:solidFill>
            <a:tailEnd type="triangle" w="lg" len="lg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4"/>
          <p:cNvCxnSpPr>
            <a:endCxn id="6" idx="1"/>
          </p:cNvCxnSpPr>
          <p:nvPr/>
        </p:nvCxnSpPr>
        <p:spPr>
          <a:xfrm flipV="1">
            <a:off x="1111725" y="1729740"/>
            <a:ext cx="821055" cy="46990"/>
          </a:xfrm>
          <a:prstGeom prst="line">
            <a:avLst/>
          </a:prstGeom>
          <a:ln w="19050">
            <a:solidFill>
              <a:srgbClr val="2E86C1"/>
            </a:solidFill>
            <a:tailEnd type="triangle" w="lg" len="lg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4"/>
          <p:cNvCxnSpPr>
            <a:endCxn id="31" idx="1"/>
          </p:cNvCxnSpPr>
          <p:nvPr/>
        </p:nvCxnSpPr>
        <p:spPr>
          <a:xfrm>
            <a:off x="1083785" y="2277110"/>
            <a:ext cx="839470" cy="201295"/>
          </a:xfrm>
          <a:prstGeom prst="line">
            <a:avLst/>
          </a:prstGeom>
          <a:ln w="19050">
            <a:solidFill>
              <a:srgbClr val="27AE60"/>
            </a:solidFill>
            <a:tailEnd type="triangle" w="lg" len="lg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WPS 演示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sun</cp:lastModifiedBy>
  <cp:revision>2</cp:revision>
  <dcterms:created xsi:type="dcterms:W3CDTF">2026-03-14T15:23:34Z</dcterms:created>
  <dcterms:modified xsi:type="dcterms:W3CDTF">2026-03-14T15:23:34Z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F05E0F6DA9BA1330767DB5698165429A_43</vt:lpwstr>
  </property>
  <property fmtid="{D5CDD505-2E9C-101B-9397-08002B2CF9AE}" pid="3" name="KSOProductBuildVer">
    <vt:lpwstr>2052-12.1.2.24722</vt:lpwstr>
  </property>
</Properties>
</file>