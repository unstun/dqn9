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_platform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1446609"/>
            <a:ext cx="5486400" cy="9751219"/>
          </a:xfrm>
          <a:prstGeom prst="rect">
            <a:avLst/>
          </a:prstGeom>
        </p:spPr>
      </p:pic>
      <p:pic>
        <p:nvPicPr>
          <p:cNvPr id="3" name="Picture 2" descr="fig_platform_li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731520"/>
            <a:ext cx="1645920" cy="12393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89401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0000"/>
                </a:solidFill>
                <a:latin typeface="Arial"/>
              </a:defRPr>
            </a:pPr>
            <a:r>
              <a:t>(a) Livox Mid-360 LiDAR</a:t>
            </a:r>
          </a:p>
          <a:p>
            <a:pPr>
              <a:defRPr sz="1600">
                <a:solidFill>
                  <a:srgbClr val="505050"/>
                </a:solidFill>
                <a:latin typeface="Arial"/>
              </a:defRPr>
            </a:pPr>
            <a:r>
              <a:t>3D Point Cloud Sensing</a:t>
            </a:r>
          </a:p>
        </p:txBody>
      </p:sp>
      <p:pic>
        <p:nvPicPr>
          <p:cNvPr id="5" name="Picture 4" descr="fig_platform_jet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43200"/>
            <a:ext cx="1645920" cy="12393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9056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0000"/>
                </a:solidFill>
                <a:latin typeface="Arial"/>
              </a:defRPr>
            </a:pPr>
            <a:r>
              <a:t>(b) Jetson AGX Orin</a:t>
            </a:r>
          </a:p>
          <a:p>
            <a:pPr>
              <a:defRPr sz="1600">
                <a:solidFill>
                  <a:srgbClr val="505050"/>
                </a:solidFill>
                <a:latin typeface="Arial"/>
              </a:defRPr>
            </a:pPr>
            <a:r>
              <a:t>Onboard AI Computing</a:t>
            </a:r>
          </a:p>
        </p:txBody>
      </p:sp>
      <p:pic>
        <p:nvPicPr>
          <p:cNvPr id="7" name="Picture 6" descr="fig_platform_chas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754880"/>
            <a:ext cx="1645920" cy="8750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4735203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0000"/>
                </a:solidFill>
                <a:latin typeface="Arial"/>
              </a:defRPr>
            </a:pPr>
            <a:r>
              <a:t>(c) Ackermann Chassis</a:t>
            </a:r>
          </a:p>
          <a:p>
            <a:pPr>
              <a:defRPr sz="1600">
                <a:solidFill>
                  <a:srgbClr val="505050"/>
                </a:solidFill>
                <a:latin typeface="Arial"/>
              </a:defRPr>
            </a:pPr>
            <a:r>
              <a:t>Bicycle Kinematic Model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1645920"/>
            <a:ext cx="3200400" cy="0"/>
          </a:xfrm>
          <a:prstGeom prst="line">
            <a:avLst/>
          </a:prstGeom>
          <a:ln w="1905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3657600"/>
            <a:ext cx="3017520" cy="0"/>
          </a:xfrm>
          <a:prstGeom prst="line">
            <a:avLst/>
          </a:prstGeom>
          <a:ln w="1905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0" y="5303520"/>
            <a:ext cx="3474720" cy="0"/>
          </a:xfrm>
          <a:prstGeom prst="line">
            <a:avLst/>
          </a:prstGeom>
          <a:ln w="1905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